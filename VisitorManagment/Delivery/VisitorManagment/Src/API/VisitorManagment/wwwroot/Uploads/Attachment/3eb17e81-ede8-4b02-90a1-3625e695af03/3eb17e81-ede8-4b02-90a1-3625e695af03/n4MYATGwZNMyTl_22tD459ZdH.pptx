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8771FF6-DF40-491E-A507-477C18C1E02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9335-A163-48D0-928D-D37BED0191C2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405C9-2230-411F-8A0F-C46C52DF4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423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9335-A163-48D0-928D-D37BED0191C2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405C9-2230-411F-8A0F-C46C52DF4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02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9335-A163-48D0-928D-D37BED0191C2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405C9-2230-411F-8A0F-C46C52DF4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30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9335-A163-48D0-928D-D37BED0191C2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405C9-2230-411F-8A0F-C46C52DF4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9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9335-A163-48D0-928D-D37BED0191C2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405C9-2230-411F-8A0F-C46C52DF4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69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9335-A163-48D0-928D-D37BED0191C2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405C9-2230-411F-8A0F-C46C52DF4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8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9335-A163-48D0-928D-D37BED0191C2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405C9-2230-411F-8A0F-C46C52DF4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37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9335-A163-48D0-928D-D37BED0191C2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405C9-2230-411F-8A0F-C46C52DF4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571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9335-A163-48D0-928D-D37BED0191C2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405C9-2230-411F-8A0F-C46C52DF4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8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9335-A163-48D0-928D-D37BED0191C2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405C9-2230-411F-8A0F-C46C52DF4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7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9335-A163-48D0-928D-D37BED0191C2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405C9-2230-411F-8A0F-C46C52DF4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01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A9335-A163-48D0-928D-D37BED0191C2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1405C9-2230-411F-8A0F-C46C52DF4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56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arm.com/what/what-is-json-rpc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GRPC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gRPC</a:t>
            </a:r>
            <a:r>
              <a:rPr lang="en-US" dirty="0"/>
              <a:t> is a </a:t>
            </a:r>
            <a:r>
              <a:rPr lang="en-US" dirty="0" smtClean="0"/>
              <a:t>open-source </a:t>
            </a:r>
            <a:r>
              <a:rPr lang="en-US" dirty="0"/>
              <a:t>RPC </a:t>
            </a:r>
            <a:r>
              <a:rPr lang="en-US" dirty="0" smtClean="0"/>
              <a:t>(Remote Procedure Call) </a:t>
            </a:r>
            <a:r>
              <a:rPr lang="en-US" dirty="0"/>
              <a:t>framework used to build scalable and fast APIs</a:t>
            </a:r>
          </a:p>
        </p:txBody>
      </p:sp>
    </p:spTree>
    <p:extLst>
      <p:ext uri="{BB962C8B-B14F-4D97-AF65-F5344CB8AC3E}">
        <p14:creationId xmlns:p14="http://schemas.microsoft.com/office/powerpoint/2010/main" val="2063404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allows the client and server applications to communicate transparently and develop connected </a:t>
            </a:r>
            <a:r>
              <a:rPr lang="en-US" dirty="0" smtClean="0"/>
              <a:t>systems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This framework relies on HTTP/2, protocol buffers, and other modern technology stacks to ensure maximum API security, performance,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1984431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Protocol Buffers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Protocol buffers, or </a:t>
            </a:r>
            <a:r>
              <a:rPr lang="en-US" dirty="0" err="1"/>
              <a:t>Protobuf</a:t>
            </a:r>
            <a:r>
              <a:rPr lang="en-US" dirty="0"/>
              <a:t>, is Google’s serialization/deserialization protocol that enables the easy definition of services and auto-generation of client libraries. </a:t>
            </a:r>
            <a:r>
              <a:rPr lang="en-US" dirty="0" err="1"/>
              <a:t>gRPC</a:t>
            </a:r>
            <a:r>
              <a:rPr lang="en-US" dirty="0"/>
              <a:t> uses this protocol as their Interface Definition Language (IDL) and serialization toolset. Its current version is proto3, which has the latest features and is easier to use.</a:t>
            </a:r>
          </a:p>
          <a:p>
            <a:r>
              <a:rPr lang="en-US" dirty="0" err="1"/>
              <a:t>gRPC</a:t>
            </a:r>
            <a:r>
              <a:rPr lang="en-US" dirty="0"/>
              <a:t> services and messages between clients and servers are defined in proto files. The </a:t>
            </a:r>
            <a:r>
              <a:rPr lang="en-US" dirty="0" err="1"/>
              <a:t>Protobuf</a:t>
            </a:r>
            <a:r>
              <a:rPr lang="en-US" dirty="0"/>
              <a:t> compiler, </a:t>
            </a:r>
            <a:r>
              <a:rPr lang="en-US" dirty="0" err="1"/>
              <a:t>protoc</a:t>
            </a:r>
            <a:r>
              <a:rPr lang="en-US" dirty="0"/>
              <a:t>, generates client and server code that loads the .proto file into the memory at runtime and uses the in-memory schema to serialize/</a:t>
            </a:r>
            <a:r>
              <a:rPr lang="en-US" dirty="0" err="1"/>
              <a:t>deserialize</a:t>
            </a:r>
            <a:r>
              <a:rPr lang="en-US" dirty="0"/>
              <a:t> the binary message. After code generation, each message is exchanged between the client and remote service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0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1028" name="Picture 4" descr="Protocol Buffer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502" y="1968485"/>
            <a:ext cx="4785360" cy="2125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158836" y="4574601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0" dirty="0" smtClean="0">
                <a:solidFill>
                  <a:srgbClr val="131314"/>
                </a:solidFill>
                <a:effectLst/>
                <a:latin typeface="Inter Tight"/>
              </a:rPr>
              <a:t>The entire flow shows that </a:t>
            </a:r>
            <a:r>
              <a:rPr lang="en-US" b="0" i="0" dirty="0" err="1" smtClean="0">
                <a:solidFill>
                  <a:srgbClr val="131314"/>
                </a:solidFill>
                <a:effectLst/>
                <a:latin typeface="Inter Tight"/>
              </a:rPr>
              <a:t>Protobuf</a:t>
            </a:r>
            <a:r>
              <a:rPr lang="en-US" b="0" i="0" dirty="0" smtClean="0">
                <a:solidFill>
                  <a:srgbClr val="131314"/>
                </a:solidFill>
                <a:effectLst/>
                <a:latin typeface="Inter Tight"/>
              </a:rPr>
              <a:t> offers some great benefits over </a:t>
            </a:r>
            <a:r>
              <a:rPr lang="en-US" b="0" i="0" u="sng" dirty="0" smtClean="0">
                <a:effectLst/>
                <a:latin typeface="Inter Tight"/>
                <a:hlinkClick r:id="rId3"/>
              </a:rPr>
              <a:t>JSON</a:t>
            </a:r>
            <a:r>
              <a:rPr lang="en-US" b="0" i="0" dirty="0" smtClean="0">
                <a:solidFill>
                  <a:srgbClr val="131314"/>
                </a:solidFill>
                <a:effectLst/>
                <a:latin typeface="Inter Tight"/>
              </a:rPr>
              <a:t> and XML. Parsing with </a:t>
            </a:r>
            <a:r>
              <a:rPr lang="en-US" b="0" i="0" dirty="0" err="1" smtClean="0">
                <a:solidFill>
                  <a:srgbClr val="131314"/>
                </a:solidFill>
                <a:effectLst/>
                <a:latin typeface="Inter Tight"/>
              </a:rPr>
              <a:t>Protobuf</a:t>
            </a:r>
            <a:r>
              <a:rPr lang="en-US" b="0" i="0" dirty="0" smtClean="0">
                <a:solidFill>
                  <a:srgbClr val="131314"/>
                </a:solidFill>
                <a:effectLst/>
                <a:latin typeface="Inter Tight"/>
              </a:rPr>
              <a:t> requires fewer CPU resources since data is converted into a binary format, and encoded messages are lighter in size. So, messages are exchanged faster, even in machines with a slower CPU, such as mobile devices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016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Streaming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Streaming is another key concept of </a:t>
            </a:r>
            <a:r>
              <a:rPr lang="en-US" dirty="0" err="1"/>
              <a:t>gRPC</a:t>
            </a:r>
            <a:r>
              <a:rPr lang="en-US" dirty="0"/>
              <a:t>, where many processes can take place in a single request. The multiplexing capability (sending multiple responses or receiving multiple requests together over a single TCP connection) of HTTP/2 makes it possible. Here are the main types of streaming:</a:t>
            </a:r>
          </a:p>
          <a:p>
            <a:r>
              <a:rPr lang="en-US" dirty="0"/>
              <a:t>Server-streaming RPCs – The client sends a single request to the server and receives back a stream of data sequences. The sequence is preserved, and server messages continuously stream until there are no messages left.</a:t>
            </a:r>
          </a:p>
          <a:p>
            <a:r>
              <a:rPr lang="en-US" dirty="0"/>
              <a:t>Client-streaming RPCs – The client sends a stream of data sequences to the server, which then processes and returns a single response to the client. Once again, </a:t>
            </a:r>
            <a:r>
              <a:rPr lang="en-US" dirty="0" err="1"/>
              <a:t>gRPC</a:t>
            </a:r>
            <a:r>
              <a:rPr lang="en-US" dirty="0"/>
              <a:t> guarantees message sequencing within an independent RPC call.</a:t>
            </a:r>
          </a:p>
          <a:p>
            <a:r>
              <a:rPr lang="en-US" dirty="0"/>
              <a:t>Bidirectional-streaming RPCs – It is two-way streaming where both client and server sends a sequence of messages to each other. Both streams operate independently; thus, they can transmit messages in any sequence. The sequence of messages in each stream is preserved.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837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HTTP/2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Binary Framing Layer – Unlike HTTP/1.1, HTTP/2 request/response is divided into small messages and framed in binary format, making message transmission efficient. With binary framing, the HTTP/2 protocol has made request/response multiplexing possible without blocking network resources.</a:t>
            </a:r>
          </a:p>
          <a:p>
            <a:r>
              <a:rPr lang="en-US" dirty="0"/>
              <a:t>Streaming – Bidirectional full-duplex streaming in which the client can request and the server can respond simultaneously.</a:t>
            </a:r>
          </a:p>
          <a:p>
            <a:r>
              <a:rPr lang="en-US" dirty="0"/>
              <a:t>Flow Control – Flow control mechanism is used in HTTP/2, enabling detailed control of memory used to buffer in-flight messages.</a:t>
            </a:r>
          </a:p>
          <a:p>
            <a:r>
              <a:rPr lang="en-US" dirty="0"/>
              <a:t>Header Compression – Everything in HTTP/2, including headers, is encoded before sending, significantly improving overall performance. Using the HPACK compression method, HTTP/2 only shares the value different from the previous HTTP header packets.</a:t>
            </a:r>
          </a:p>
          <a:p>
            <a:r>
              <a:rPr lang="en-US" dirty="0"/>
              <a:t>Processing – With HTTP/2, </a:t>
            </a:r>
            <a:r>
              <a:rPr lang="en-US" dirty="0" err="1"/>
              <a:t>gRPC</a:t>
            </a:r>
            <a:r>
              <a:rPr lang="en-US" dirty="0"/>
              <a:t> supports both synchronous and asynchronous processing, which can be used to perform different types of interaction and streaming RPCs.</a:t>
            </a:r>
          </a:p>
          <a:p>
            <a:r>
              <a:rPr lang="en-US" dirty="0"/>
              <a:t>All these features of HTTP/2 enable </a:t>
            </a:r>
            <a:r>
              <a:rPr lang="en-US" dirty="0" err="1"/>
              <a:t>gRPC</a:t>
            </a:r>
            <a:r>
              <a:rPr lang="en-US" dirty="0"/>
              <a:t> to use fewer resources, resulting in reduced response times between apps and services running in the cloud and longer battery life for a client running mobile devices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096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Channels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Channels are a core concept in </a:t>
            </a:r>
            <a:r>
              <a:rPr lang="en-US" dirty="0" err="1"/>
              <a:t>gRPC</a:t>
            </a:r>
            <a:r>
              <a:rPr lang="en-US" dirty="0"/>
              <a:t>. The HTTP/2 streams allow many simultaneous streams on one connection; channels extend this concept by supporting multiple streams over multiple concurrent connections. They provide a way to connect to the </a:t>
            </a:r>
            <a:r>
              <a:rPr lang="en-US" dirty="0" err="1"/>
              <a:t>gRPC</a:t>
            </a:r>
            <a:r>
              <a:rPr lang="en-US" dirty="0"/>
              <a:t> server on a specified address and port and are used in creating a client stub.</a:t>
            </a:r>
          </a:p>
        </p:txBody>
      </p:sp>
    </p:spTree>
    <p:extLst>
      <p:ext uri="{BB962C8B-B14F-4D97-AF65-F5344CB8AC3E}">
        <p14:creationId xmlns:p14="http://schemas.microsoft.com/office/powerpoint/2010/main" val="325113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           </a:t>
            </a:r>
            <a:r>
              <a:rPr lang="en-US" b="1" dirty="0" err="1" smtClean="0">
                <a:solidFill>
                  <a:srgbClr val="FF0000"/>
                </a:solidFill>
              </a:rPr>
              <a:t>gRPC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Architecture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following </a:t>
            </a:r>
            <a:r>
              <a:rPr lang="en-US" dirty="0" err="1"/>
              <a:t>gRPC</a:t>
            </a:r>
            <a:r>
              <a:rPr lang="en-US" dirty="0"/>
              <a:t> architecture diagram, we have the </a:t>
            </a:r>
            <a:r>
              <a:rPr lang="en-US" dirty="0" err="1"/>
              <a:t>gRPC</a:t>
            </a:r>
            <a:r>
              <a:rPr lang="en-US" dirty="0"/>
              <a:t> client and server sides. In </a:t>
            </a:r>
            <a:r>
              <a:rPr lang="en-US" dirty="0" err="1"/>
              <a:t>gRPC</a:t>
            </a:r>
            <a:r>
              <a:rPr lang="en-US" dirty="0"/>
              <a:t>, every client service includes a stub (auto-generated files), similar to an interface containing the current remote procedures. The </a:t>
            </a:r>
            <a:r>
              <a:rPr lang="en-US" dirty="0" err="1"/>
              <a:t>gRPC</a:t>
            </a:r>
            <a:r>
              <a:rPr lang="en-US" dirty="0"/>
              <a:t> client makes the local procedure call to the stub with parameters to be sent to the server. The client stub then serializes the parameters with the marshaling process using </a:t>
            </a:r>
            <a:r>
              <a:rPr lang="en-US" dirty="0" err="1"/>
              <a:t>Protobuf</a:t>
            </a:r>
            <a:r>
              <a:rPr lang="en-US" dirty="0"/>
              <a:t> and forwards the request to the local client-time library in the local machine.</a:t>
            </a:r>
          </a:p>
        </p:txBody>
      </p:sp>
    </p:spTree>
    <p:extLst>
      <p:ext uri="{BB962C8B-B14F-4D97-AF65-F5344CB8AC3E}">
        <p14:creationId xmlns:p14="http://schemas.microsoft.com/office/powerpoint/2010/main" val="3019297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gRPC Architectur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885" y="1825625"/>
            <a:ext cx="725223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658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              </a:t>
            </a:r>
            <a:r>
              <a:rPr lang="en-US" b="1" dirty="0" err="1" smtClean="0">
                <a:solidFill>
                  <a:srgbClr val="FF0000"/>
                </a:solidFill>
              </a:rPr>
              <a:t>gRPC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Advantages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Performance</a:t>
            </a:r>
            <a:endParaRPr lang="en-US" dirty="0"/>
          </a:p>
          <a:p>
            <a:r>
              <a:rPr lang="en-US" dirty="0"/>
              <a:t>By different evaluations, </a:t>
            </a:r>
            <a:r>
              <a:rPr lang="en-US" dirty="0" err="1"/>
              <a:t>gRPC</a:t>
            </a:r>
            <a:r>
              <a:rPr lang="en-US" dirty="0"/>
              <a:t> offers up to 10x faster performance and API-security than REST+JSON communication as it uses </a:t>
            </a:r>
            <a:r>
              <a:rPr lang="en-US" dirty="0" err="1"/>
              <a:t>Protobuf</a:t>
            </a:r>
            <a:r>
              <a:rPr lang="en-US" dirty="0"/>
              <a:t> and HTTP/2. </a:t>
            </a:r>
            <a:r>
              <a:rPr lang="en-US" dirty="0" err="1"/>
              <a:t>Protobuf</a:t>
            </a:r>
            <a:r>
              <a:rPr lang="en-US" dirty="0"/>
              <a:t> serializes the messages on the server and client sides quickly, resulting in small and compact message payloads. HTTP/2 scales up the performance ranking via server push, multiplexing, and header compression. Server push enables HTTP/2 to push content from server to client before getting requested, while multiplexing eliminates head-of-line blocking. HTTP/2 uses a more advanced compression method to make the messages smaller, resulting in faster loading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604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Streaming</a:t>
            </a:r>
            <a:endParaRPr lang="en-US" dirty="0"/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Client-to-server streaming</a:t>
            </a:r>
          </a:p>
          <a:p>
            <a:r>
              <a:rPr lang="en-US" dirty="0"/>
              <a:t>Server-to-client streaming</a:t>
            </a:r>
          </a:p>
          <a:p>
            <a:r>
              <a:rPr lang="en-US" dirty="0"/>
              <a:t>Bi-directional streaming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968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Interoperability</a:t>
            </a:r>
            <a:endParaRPr lang="en-US" dirty="0"/>
          </a:p>
          <a:p>
            <a:r>
              <a:rPr lang="en-US" dirty="0" err="1"/>
              <a:t>gRPC</a:t>
            </a:r>
            <a:r>
              <a:rPr lang="en-US" dirty="0"/>
              <a:t> tools and libraries are designed to work with multiple platforms and programming languages, including Java, JavaScript, Ruby, Python, Go, Dart, Objective-C, C#, and more. Due to the </a:t>
            </a:r>
            <a:r>
              <a:rPr lang="en-US" dirty="0" err="1"/>
              <a:t>Protobuf</a:t>
            </a:r>
            <a:r>
              <a:rPr lang="en-US" dirty="0"/>
              <a:t> binary wire format and efficient code generation for virtually all platforms, programmers can develop performant applications while still using full cross-platform support.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168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gRPC</a:t>
            </a:r>
            <a:r>
              <a:rPr lang="en-US" b="1" dirty="0">
                <a:solidFill>
                  <a:srgbClr val="FF0000"/>
                </a:solidFill>
              </a:rPr>
              <a:t> Disadvantages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en-US" b="1" dirty="0"/>
              <a:t>Limited Browser Support</a:t>
            </a:r>
            <a:endParaRPr lang="en-US" dirty="0"/>
          </a:p>
          <a:p>
            <a:pPr algn="ctr"/>
            <a:r>
              <a:rPr lang="en-US" dirty="0"/>
              <a:t>As </a:t>
            </a:r>
            <a:r>
              <a:rPr lang="en-US" dirty="0" err="1"/>
              <a:t>gRPC</a:t>
            </a:r>
            <a:r>
              <a:rPr lang="en-US" dirty="0"/>
              <a:t> heavily uses HTTP/2, it is impossible to call a </a:t>
            </a:r>
            <a:r>
              <a:rPr lang="en-US" dirty="0" err="1"/>
              <a:t>gRPC</a:t>
            </a:r>
            <a:r>
              <a:rPr lang="en-US" dirty="0"/>
              <a:t> service from a web browser directly. No modern browser provides the control needed over web requests to support a </a:t>
            </a:r>
            <a:r>
              <a:rPr lang="en-US" dirty="0" err="1"/>
              <a:t>gRPC</a:t>
            </a:r>
            <a:r>
              <a:rPr lang="en-US" dirty="0"/>
              <a:t> client. Therefore, a proxy layer and </a:t>
            </a:r>
            <a:r>
              <a:rPr lang="en-US" dirty="0" err="1"/>
              <a:t>gRPC</a:t>
            </a:r>
            <a:r>
              <a:rPr lang="en-US" dirty="0"/>
              <a:t>-web are required to perform conversions between HTTP/1.1 and HTTP/2.</a:t>
            </a:r>
          </a:p>
          <a:p>
            <a:pPr algn="ctr"/>
            <a:r>
              <a:rPr lang="en-US" b="1" dirty="0"/>
              <a:t>Non-human Readable Format</a:t>
            </a:r>
            <a:endParaRPr lang="en-US" dirty="0"/>
          </a:p>
          <a:p>
            <a:pPr algn="ctr"/>
            <a:r>
              <a:rPr lang="en-US" dirty="0" err="1"/>
              <a:t>Protobuf</a:t>
            </a:r>
            <a:r>
              <a:rPr lang="en-US" dirty="0"/>
              <a:t> compresses </a:t>
            </a:r>
            <a:r>
              <a:rPr lang="en-US" dirty="0" err="1"/>
              <a:t>gRPC</a:t>
            </a:r>
            <a:r>
              <a:rPr lang="en-US" dirty="0"/>
              <a:t> messages into a non-human readable format. This compiler needs the message’s interface description in the file to </a:t>
            </a:r>
            <a:r>
              <a:rPr lang="en-US" dirty="0" err="1"/>
              <a:t>deserialize</a:t>
            </a:r>
            <a:r>
              <a:rPr lang="en-US" dirty="0"/>
              <a:t> correctly. So, developers need additional tools like the </a:t>
            </a:r>
            <a:r>
              <a:rPr lang="en-US" dirty="0" err="1"/>
              <a:t>gRPC</a:t>
            </a:r>
            <a:r>
              <a:rPr lang="en-US" dirty="0"/>
              <a:t> command-line tool to analyze </a:t>
            </a:r>
            <a:r>
              <a:rPr lang="en-US" dirty="0" err="1"/>
              <a:t>Protobuf</a:t>
            </a:r>
            <a:r>
              <a:rPr lang="en-US" dirty="0"/>
              <a:t> payloads on the wire, write manual requests, and perform debugging.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033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1036</Words>
  <Application>Microsoft Office PowerPoint</Application>
  <PresentationFormat>Widescreen</PresentationFormat>
  <Paragraphs>42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Inter Tight</vt:lpstr>
      <vt:lpstr>Office Theme</vt:lpstr>
      <vt:lpstr>GRPC</vt:lpstr>
      <vt:lpstr>PowerPoint Presentation</vt:lpstr>
      <vt:lpstr>Protocol Buffers </vt:lpstr>
      <vt:lpstr>.</vt:lpstr>
      <vt:lpstr>Streaming </vt:lpstr>
      <vt:lpstr>HTTP/2 </vt:lpstr>
      <vt:lpstr>Channels </vt:lpstr>
      <vt:lpstr>                   gRPC Architecture </vt:lpstr>
      <vt:lpstr>PowerPoint Presentation</vt:lpstr>
      <vt:lpstr>                      gRPC Advantages </vt:lpstr>
      <vt:lpstr>PowerPoint Presentation</vt:lpstr>
      <vt:lpstr>PowerPoint Presentation</vt:lpstr>
      <vt:lpstr>gRPC Disadvantages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GRPC</dc:title>
  <dc:creator>Elite</dc:creator>
  <cp:lastModifiedBy>Elite</cp:lastModifiedBy>
  <cp:revision>8</cp:revision>
  <dcterms:created xsi:type="dcterms:W3CDTF">2024-07-20T05:14:07Z</dcterms:created>
  <dcterms:modified xsi:type="dcterms:W3CDTF">2024-07-21T09:07:48Z</dcterms:modified>
</cp:coreProperties>
</file>